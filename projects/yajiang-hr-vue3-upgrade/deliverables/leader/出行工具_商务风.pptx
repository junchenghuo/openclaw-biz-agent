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F3864"/>
                </a:solidFill>
              </a:defRPr>
            </a:pPr>
            <a:r>
              <a:t>出行工具图片分析报告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95959"/>
                </a:solidFill>
              </a:defRPr>
            </a:pPr>
            <a:r>
              <a:t>Business Style Deck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10972800" cy="2743200"/>
          </a:xfrm>
          <a:prstGeom prst="rect">
            <a:avLst/>
          </a:prstGeom>
          <a:solidFill>
            <a:srgbClr val="F2F2F2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100584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864"/>
                </a:solidFill>
              </a:defRPr>
            </a:pPr>
            <a:r>
              <a:t>样本数量：5 张图片</a:t>
            </a:r>
          </a:p>
          <a:p>
            <a:pPr>
              <a:defRPr sz="2000">
                <a:solidFill>
                  <a:srgbClr val="595959"/>
                </a:solidFill>
              </a:defRPr>
            </a:pPr>
            <a:r>
              <a:t>主题：出行工具识别与场景归类</a:t>
            </a:r>
          </a:p>
          <a:p>
            <a:pPr>
              <a:defRPr sz="2000">
                <a:solidFill>
                  <a:srgbClr val="595959"/>
                </a:solidFill>
              </a:defRPr>
            </a:pPr>
            <a:r>
              <a:t>输出：工具类型说明 + 视觉展示页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263640"/>
            <a:ext cx="11064240" cy="18288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30936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95959"/>
                </a:solidFill>
              </a:defRPr>
            </a:pPr>
            <a:r>
              <a:t>Confidential  |  Transportation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F3864"/>
                </a:solidFill>
              </a:defRPr>
            </a:pPr>
            <a: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95959"/>
                </a:solidFill>
              </a:defRPr>
            </a:pPr>
            <a:r>
              <a:t>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10972800" cy="4206240"/>
          </a:xfrm>
          <a:prstGeom prst="rect">
            <a:avLst/>
          </a:prstGeom>
          <a:solidFill>
            <a:srgbClr val="FAFAFA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1024128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2D2D2D"/>
                </a:solidFill>
              </a:defRPr>
            </a:pPr>
            <a:r>
              <a:t>1. 自行车（城市骑行）</a:t>
            </a:r>
          </a:p>
          <a:p>
            <a:pPr>
              <a:defRPr sz="2400">
                <a:solidFill>
                  <a:srgbClr val="2D2D2D"/>
                </a:solidFill>
              </a:defRPr>
            </a:pPr>
            <a:r>
              <a:t>2. 复古汽车轮毂特写</a:t>
            </a:r>
          </a:p>
          <a:p>
            <a:pPr>
              <a:defRPr sz="2400">
                <a:solidFill>
                  <a:srgbClr val="2D2D2D"/>
                </a:solidFill>
              </a:defRPr>
            </a:pPr>
            <a:r>
              <a:t>3. 复古轿车（红色背景）</a:t>
            </a:r>
          </a:p>
          <a:p>
            <a:pPr>
              <a:defRPr sz="2400">
                <a:solidFill>
                  <a:srgbClr val="2D2D2D"/>
                </a:solidFill>
              </a:defRPr>
            </a:pPr>
            <a:r>
              <a:t>4. 复古轿车（活动场景）</a:t>
            </a:r>
          </a:p>
          <a:p>
            <a:pPr>
              <a:defRPr sz="2400">
                <a:solidFill>
                  <a:srgbClr val="2D2D2D"/>
                </a:solidFill>
              </a:defRPr>
            </a:pPr>
            <a:r>
              <a:t>5. 轨道作业车/小型机车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263640"/>
            <a:ext cx="11064240" cy="18288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30936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95959"/>
                </a:solidFill>
              </a:defRPr>
            </a:pPr>
            <a:r>
              <a:t>Confidential  |  Transportation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F3864"/>
                </a:solidFill>
              </a:defRPr>
            </a:pPr>
            <a:r>
              <a:t>1. 自行车（城市骑行）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95959"/>
                </a:solidFill>
              </a:defRPr>
            </a:pPr>
            <a:r>
              <a:t>Image Detail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7863840" cy="4480560"/>
          </a:xfrm>
          <a:prstGeom prst="rect">
            <a:avLst/>
          </a:prstGeom>
          <a:solidFill>
            <a:srgbClr val="F8F8F8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39" y="1828800"/>
            <a:ext cx="73152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869680" y="1645920"/>
            <a:ext cx="2651760" cy="4480560"/>
          </a:xfrm>
          <a:prstGeom prst="rect">
            <a:avLst/>
          </a:prstGeom>
          <a:solidFill>
            <a:srgbClr val="F5F8FC"/>
          </a:solidFill>
          <a:ln>
            <a:solidFill>
              <a:srgbClr val="C6D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1920240"/>
            <a:ext cx="2103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F3864"/>
                </a:solidFill>
              </a:defRPr>
            </a:pPr>
            <a:r>
              <a:t>识别说明</a:t>
            </a:r>
          </a:p>
          <a:p>
            <a:pPr>
              <a:defRPr sz="1400">
                <a:solidFill>
                  <a:srgbClr val="595959"/>
                </a:solidFill>
              </a:defRPr>
            </a:pPr>
            <a:r>
              <a:t>适用于城市短途通勤，具备低碳、灵活的出行优势。</a:t>
            </a:r>
          </a:p>
          <a:p>
            <a:pPr>
              <a:defRPr sz="1100">
                <a:solidFill>
                  <a:srgbClr val="787878"/>
                </a:solidFill>
              </a:defRPr>
            </a:pPr>
            <a:r>
              <a:t>文件：1.jpg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263640"/>
            <a:ext cx="11064240" cy="18288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30936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95959"/>
                </a:solidFill>
              </a:defRPr>
            </a:pPr>
            <a:r>
              <a:t>Confidential  |  Transportation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F3864"/>
                </a:solidFill>
              </a:defRPr>
            </a:pPr>
            <a:r>
              <a:t>2. 复古汽车轮毂特写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95959"/>
                </a:solidFill>
              </a:defRPr>
            </a:pPr>
            <a:r>
              <a:t>Image Detail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7863840" cy="4480560"/>
          </a:xfrm>
          <a:prstGeom prst="rect">
            <a:avLst/>
          </a:prstGeom>
          <a:solidFill>
            <a:srgbClr val="F8F8F8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39" y="1828800"/>
            <a:ext cx="73152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869680" y="1645920"/>
            <a:ext cx="2651760" cy="4480560"/>
          </a:xfrm>
          <a:prstGeom prst="rect">
            <a:avLst/>
          </a:prstGeom>
          <a:solidFill>
            <a:srgbClr val="F5F8FC"/>
          </a:solidFill>
          <a:ln>
            <a:solidFill>
              <a:srgbClr val="C6D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1920240"/>
            <a:ext cx="2103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F3864"/>
                </a:solidFill>
              </a:defRPr>
            </a:pPr>
            <a:r>
              <a:t>识别说明</a:t>
            </a:r>
          </a:p>
          <a:p>
            <a:pPr>
              <a:defRPr sz="1400">
                <a:solidFill>
                  <a:srgbClr val="595959"/>
                </a:solidFill>
              </a:defRPr>
            </a:pPr>
            <a:r>
              <a:t>展示汽车工业设计细节与机械工艺质感。</a:t>
            </a:r>
          </a:p>
          <a:p>
            <a:pPr>
              <a:defRPr sz="1100">
                <a:solidFill>
                  <a:srgbClr val="787878"/>
                </a:solidFill>
              </a:defRPr>
            </a:pPr>
            <a:r>
              <a:t>文件：2.jpg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263640"/>
            <a:ext cx="11064240" cy="18288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30936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95959"/>
                </a:solidFill>
              </a:defRPr>
            </a:pPr>
            <a:r>
              <a:t>Confidential  |  Transportation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F3864"/>
                </a:solidFill>
              </a:defRPr>
            </a:pPr>
            <a:r>
              <a:t>3. 复古轿车（红色背景）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95959"/>
                </a:solidFill>
              </a:defRPr>
            </a:pPr>
            <a:r>
              <a:t>Image Detail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7863840" cy="4480560"/>
          </a:xfrm>
          <a:prstGeom prst="rect">
            <a:avLst/>
          </a:prstGeom>
          <a:solidFill>
            <a:srgbClr val="F8F8F8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39" y="1828800"/>
            <a:ext cx="73152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869680" y="1645920"/>
            <a:ext cx="2651760" cy="4480560"/>
          </a:xfrm>
          <a:prstGeom prst="rect">
            <a:avLst/>
          </a:prstGeom>
          <a:solidFill>
            <a:srgbClr val="F5F8FC"/>
          </a:solidFill>
          <a:ln>
            <a:solidFill>
              <a:srgbClr val="C6D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1920240"/>
            <a:ext cx="2103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F3864"/>
                </a:solidFill>
              </a:defRPr>
            </a:pPr>
            <a:r>
              <a:t>识别说明</a:t>
            </a:r>
          </a:p>
          <a:p>
            <a:pPr>
              <a:defRPr sz="1400">
                <a:solidFill>
                  <a:srgbClr val="595959"/>
                </a:solidFill>
              </a:defRPr>
            </a:pPr>
            <a:r>
              <a:t>典型整车展示图，适合做车型识别与视觉对比。</a:t>
            </a:r>
          </a:p>
          <a:p>
            <a:pPr>
              <a:defRPr sz="1100">
                <a:solidFill>
                  <a:srgbClr val="787878"/>
                </a:solidFill>
              </a:defRPr>
            </a:pPr>
            <a:r>
              <a:t>文件：3.jpg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263640"/>
            <a:ext cx="11064240" cy="18288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30936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95959"/>
                </a:solidFill>
              </a:defRPr>
            </a:pPr>
            <a:r>
              <a:t>Confidential  |  Transportation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F3864"/>
                </a:solidFill>
              </a:defRPr>
            </a:pPr>
            <a:r>
              <a:t>4. 复古轿车（活动场景）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95959"/>
                </a:solidFill>
              </a:defRPr>
            </a:pPr>
            <a:r>
              <a:t>Image Detail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7863840" cy="4480560"/>
          </a:xfrm>
          <a:prstGeom prst="rect">
            <a:avLst/>
          </a:prstGeom>
          <a:solidFill>
            <a:srgbClr val="F8F8F8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39" y="1828800"/>
            <a:ext cx="73152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869680" y="1645920"/>
            <a:ext cx="2651760" cy="4480560"/>
          </a:xfrm>
          <a:prstGeom prst="rect">
            <a:avLst/>
          </a:prstGeom>
          <a:solidFill>
            <a:srgbClr val="F5F8FC"/>
          </a:solidFill>
          <a:ln>
            <a:solidFill>
              <a:srgbClr val="C6D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1920240"/>
            <a:ext cx="2103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F3864"/>
                </a:solidFill>
              </a:defRPr>
            </a:pPr>
            <a:r>
              <a:t>识别说明</a:t>
            </a:r>
          </a:p>
          <a:p>
            <a:pPr>
              <a:defRPr sz="1400">
                <a:solidFill>
                  <a:srgbClr val="595959"/>
                </a:solidFill>
              </a:defRPr>
            </a:pPr>
            <a:r>
              <a:t>多车同场活动照片，体现车辆应用场景。</a:t>
            </a:r>
          </a:p>
          <a:p>
            <a:pPr>
              <a:defRPr sz="1100">
                <a:solidFill>
                  <a:srgbClr val="787878"/>
                </a:solidFill>
              </a:defRPr>
            </a:pPr>
            <a:r>
              <a:t>文件：4.jpg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263640"/>
            <a:ext cx="11064240" cy="18288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30936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95959"/>
                </a:solidFill>
              </a:defRPr>
            </a:pPr>
            <a:r>
              <a:t>Confidential  |  Transportation 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F3864"/>
                </a:solidFill>
              </a:defRPr>
            </a:pPr>
            <a:r>
              <a:t>5. 轨道作业车/小型机车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95959"/>
                </a:solidFill>
              </a:defRPr>
            </a:pPr>
            <a:r>
              <a:t>Image Detail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7863840" cy="4480560"/>
          </a:xfrm>
          <a:prstGeom prst="rect">
            <a:avLst/>
          </a:prstGeom>
          <a:solidFill>
            <a:srgbClr val="F8F8F8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39" y="1828800"/>
            <a:ext cx="73152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869680" y="1645920"/>
            <a:ext cx="2651760" cy="4480560"/>
          </a:xfrm>
          <a:prstGeom prst="rect">
            <a:avLst/>
          </a:prstGeom>
          <a:solidFill>
            <a:srgbClr val="F5F8FC"/>
          </a:solidFill>
          <a:ln>
            <a:solidFill>
              <a:srgbClr val="C6D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1920240"/>
            <a:ext cx="2103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F3864"/>
                </a:solidFill>
              </a:defRPr>
            </a:pPr>
            <a:r>
              <a:t>识别说明</a:t>
            </a:r>
          </a:p>
          <a:p>
            <a:pPr>
              <a:defRPr sz="1400">
                <a:solidFill>
                  <a:srgbClr val="595959"/>
                </a:solidFill>
              </a:defRPr>
            </a:pPr>
            <a:r>
              <a:t>轨道类出行与作业设备，场景化特征明确。</a:t>
            </a:r>
          </a:p>
          <a:p>
            <a:pPr>
              <a:defRPr sz="1100">
                <a:solidFill>
                  <a:srgbClr val="787878"/>
                </a:solidFill>
              </a:defRPr>
            </a:pPr>
            <a:r>
              <a:t>文件：5.jpg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263640"/>
            <a:ext cx="11064240" cy="18288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30936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95959"/>
                </a:solidFill>
              </a:defRPr>
            </a:pPr>
            <a:r>
              <a:t>Confidential  |  Transportation 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F3864"/>
                </a:solidFill>
              </a:defRPr>
            </a:pPr>
            <a:r>
              <a:t>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95959"/>
                </a:solidFill>
              </a:defRPr>
            </a:pPr>
            <a:r>
              <a:t>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10972800" cy="4389120"/>
          </a:xfrm>
          <a:prstGeom prst="rect">
            <a:avLst/>
          </a:prstGeom>
          <a:solidFill>
            <a:srgbClr val="FAFAFA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10241280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• 样本覆盖自行车、汽车与轨道交通三类出行工具。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汽车类视觉样本较多，包含细节特写与场景图。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该组数据可直接用于交通工具分类展示与汇报。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263640"/>
            <a:ext cx="11064240" cy="18288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30936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95959"/>
                </a:solidFill>
              </a:defRPr>
            </a:pPr>
            <a:r>
              <a:t>Confidential  |  Transportation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