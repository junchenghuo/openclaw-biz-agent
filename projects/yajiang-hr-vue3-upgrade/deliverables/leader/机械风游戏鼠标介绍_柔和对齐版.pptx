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  <a:latin typeface="Aptos"/>
              </a:defRPr>
            </a:pPr>
            <a:r>
              <a:t>机械风游戏鼠标介绍</a:t>
            </a:r>
          </a:p>
          <a:p>
            <a:pPr>
              <a:defRPr sz="1600">
                <a:solidFill>
                  <a:srgbClr val="566573"/>
                </a:solidFill>
                <a:latin typeface="Aptos"/>
              </a:defRPr>
            </a:pPr>
            <a:r>
              <a:t>柔和简洁版｜图片居中对齐｜适合日常汇报</a:t>
            </a:r>
          </a:p>
        </p:txBody>
      </p:sp>
      <p:pic>
        <p:nvPicPr>
          <p:cNvPr id="3" name="Picture 2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605" y="1463040"/>
            <a:ext cx="2520789" cy="44805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6172200"/>
            <a:ext cx="10789920" cy="73152"/>
          </a:xfrm>
          <a:prstGeom prst="rect">
            <a:avLst/>
          </a:prstGeom>
          <a:solidFill>
            <a:srgbClr val="BE9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  <a:latin typeface="Aptos"/>
              </a:defRPr>
            </a:pPr>
            <a:r>
              <a:t>外观设计亮点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566573"/>
                </a:solidFill>
                <a:latin typeface="Aptos"/>
              </a:defRPr>
            </a:pPr>
            <a:r>
              <a:t>• 机甲切面造型，结构感明显</a:t>
            </a:r>
          </a:p>
          <a:p>
            <a:pPr>
              <a:defRPr sz="2100">
                <a:solidFill>
                  <a:srgbClr val="566573"/>
                </a:solidFill>
                <a:latin typeface="Aptos"/>
              </a:defRPr>
            </a:pPr>
            <a:r>
              <a:t>• 白色主体 + 金属暖金配色</a:t>
            </a:r>
          </a:p>
          <a:p>
            <a:pPr>
              <a:defRPr sz="2100">
                <a:solidFill>
                  <a:srgbClr val="566573"/>
                </a:solidFill>
                <a:latin typeface="Aptos"/>
              </a:defRPr>
            </a:pPr>
            <a:r>
              <a:t>• 镂空机械元素提升科技氛围</a:t>
            </a:r>
          </a:p>
          <a:p>
            <a:pPr>
              <a:defRPr sz="2100">
                <a:solidFill>
                  <a:srgbClr val="566573"/>
                </a:solidFill>
                <a:latin typeface="Aptos"/>
              </a:defRPr>
            </a:pPr>
            <a:r>
              <a:t>• 桌面摆放具有较高辨识度</a:t>
            </a:r>
          </a:p>
        </p:txBody>
      </p:sp>
      <p:pic>
        <p:nvPicPr>
          <p:cNvPr id="4" name="Picture 3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2520789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172200"/>
            <a:ext cx="10789920" cy="73152"/>
          </a:xfrm>
          <a:prstGeom prst="rect">
            <a:avLst/>
          </a:prstGeom>
          <a:solidFill>
            <a:srgbClr val="BE9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  <a:latin typeface="Aptos"/>
              </a:defRPr>
            </a:pPr>
            <a:r>
              <a:t>功能与体验（基于图片可见）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566573"/>
                </a:solidFill>
                <a:latin typeface="Aptos"/>
              </a:defRPr>
            </a:pPr>
            <a:r>
              <a:t>• 支持 DPI 按键切换，便于速度调整</a:t>
            </a:r>
          </a:p>
          <a:p>
            <a:pPr>
              <a:defRPr sz="2100">
                <a:solidFill>
                  <a:srgbClr val="566573"/>
                </a:solidFill>
                <a:latin typeface="Aptos"/>
              </a:defRPr>
            </a:pPr>
            <a:r>
              <a:t>• 有线连接稳定，延迟表现更可控</a:t>
            </a:r>
          </a:p>
          <a:p>
            <a:pPr>
              <a:defRPr sz="2100">
                <a:solidFill>
                  <a:srgbClr val="566573"/>
                </a:solidFill>
                <a:latin typeface="Aptos"/>
              </a:defRPr>
            </a:pPr>
            <a:r>
              <a:t>• 滚轮与按键布局清晰，操作直接</a:t>
            </a:r>
          </a:p>
          <a:p>
            <a:pPr>
              <a:defRPr sz="2100">
                <a:solidFill>
                  <a:srgbClr val="566573"/>
                </a:solidFill>
                <a:latin typeface="Aptos"/>
              </a:defRPr>
            </a:pPr>
            <a:r>
              <a:t>• 侧翼承托结构，握持更稳</a:t>
            </a:r>
          </a:p>
        </p:txBody>
      </p:sp>
      <p:pic>
        <p:nvPicPr>
          <p:cNvPr id="4" name="Picture 3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2520789" cy="4480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172200"/>
            <a:ext cx="10789920" cy="73152"/>
          </a:xfrm>
          <a:prstGeom prst="rect">
            <a:avLst/>
          </a:prstGeom>
          <a:solidFill>
            <a:srgbClr val="BE9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  <a:latin typeface="Aptos"/>
              </a:defRPr>
            </a:pPr>
            <a:r>
              <a:t>适用用户与场景</a:t>
            </a:r>
          </a:p>
        </p:txBody>
      </p:sp>
      <p:pic>
        <p:nvPicPr>
          <p:cNvPr id="3" name="Picture 2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050" y="1600200"/>
            <a:ext cx="2417899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66573"/>
                </a:solidFill>
                <a:latin typeface="Aptos"/>
              </a:defRPr>
            </a:pPr>
            <a:r>
              <a:t>电竞玩家：看重响应和操控反馈</a:t>
            </a:r>
          </a:p>
          <a:p>
            <a:pPr>
              <a:defRPr sz="1800">
                <a:solidFill>
                  <a:srgbClr val="566573"/>
                </a:solidFill>
                <a:latin typeface="Aptos"/>
              </a:defRPr>
            </a:pPr>
            <a:r>
              <a:t>办公用户：希望稳定与颜值兼顾</a:t>
            </a:r>
          </a:p>
          <a:p>
            <a:pPr>
              <a:defRPr sz="1800">
                <a:solidFill>
                  <a:srgbClr val="566573"/>
                </a:solidFill>
                <a:latin typeface="Aptos"/>
              </a:defRPr>
            </a:pPr>
            <a:r>
              <a:t>桌搭爱好者：注重设备视觉统一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89920" cy="73152"/>
          </a:xfrm>
          <a:prstGeom prst="rect">
            <a:avLst/>
          </a:prstGeom>
          <a:solidFill>
            <a:srgbClr val="BE9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495E"/>
                </a:solidFill>
                <a:latin typeface="Aptos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66573"/>
                </a:solidFill>
                <a:latin typeface="Aptos"/>
              </a:defRPr>
            </a:pPr>
            <a:r>
              <a:t>这是一款“机械风格突出”的有线鼠标。</a:t>
            </a:r>
          </a:p>
          <a:p>
            <a:pPr>
              <a:defRPr sz="2400">
                <a:solidFill>
                  <a:srgbClr val="566573"/>
                </a:solidFill>
                <a:latin typeface="Aptos"/>
              </a:defRPr>
            </a:pPr>
            <a:r>
              <a:t>在颜值表达、稳定连接和桌面氛围上表现均衡。</a:t>
            </a:r>
          </a:p>
          <a:p>
            <a:pPr>
              <a:defRPr sz="2400">
                <a:solidFill>
                  <a:srgbClr val="566573"/>
                </a:solidFill>
                <a:latin typeface="Aptos"/>
              </a:defRPr>
            </a:pPr>
            <a:r>
              <a:t>适合希望兼顾外观与实用体验的用户。</a:t>
            </a:r>
          </a:p>
        </p:txBody>
      </p:sp>
      <p:pic>
        <p:nvPicPr>
          <p:cNvPr id="4" name="Picture 3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941" y="3657600"/>
            <a:ext cx="1286117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172200"/>
            <a:ext cx="10789920" cy="73152"/>
          </a:xfrm>
          <a:prstGeom prst="rect">
            <a:avLst/>
          </a:prstGeom>
          <a:solidFill>
            <a:srgbClr val="BE9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